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HK Grotesk Bold" panose="020B0604020202020204" charset="0"/>
      <p:regular r:id="rId15"/>
    </p:embeddedFont>
    <p:embeddedFont>
      <p:font typeface="HK Grotesk Medium" panose="020B0604020202020204" charset="0"/>
      <p:regular r:id="rId16"/>
    </p:embeddedFont>
    <p:embeddedFont>
      <p:font typeface="Manison Bold" panose="020B0604020202020204" charset="-34"/>
      <p:regular r:id="rId17"/>
    </p:embeddedFont>
    <p:embeddedFont>
      <p:font typeface="Manison Ultra-Bold" panose="020B0604020202020204" charset="-34"/>
      <p:regular r:id="rId18"/>
    </p:embeddedFont>
    <p:embeddedFont>
      <p:font typeface="Poly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70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5.svg"/><Relationship Id="rId9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058344" y="3398055"/>
            <a:ext cx="10171313" cy="3372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4"/>
              </a:lnSpc>
            </a:pPr>
            <a:r>
              <a:rPr lang="en-US" sz="15005" b="1">
                <a:solidFill>
                  <a:srgbClr val="546A8A"/>
                </a:solidFill>
                <a:latin typeface="Manison Ultra-Bold"/>
                <a:ea typeface="Manison Ultra-Bold"/>
                <a:cs typeface="Manison Ultra-Bold"/>
                <a:sym typeface="Manison Ultra-Bold"/>
              </a:rPr>
              <a:t>Bank Loan Analysis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70140" y="6945460"/>
            <a:ext cx="8547721" cy="45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sz="3399">
                <a:solidFill>
                  <a:srgbClr val="546A8A"/>
                </a:solidFill>
                <a:latin typeface="Poly"/>
                <a:ea typeface="Poly"/>
                <a:cs typeface="Poly"/>
                <a:sym typeface="Poly"/>
              </a:rPr>
              <a:t>Presented by Group 4</a:t>
            </a:r>
          </a:p>
        </p:txBody>
      </p:sp>
      <p:sp>
        <p:nvSpPr>
          <p:cNvPr id="5" name="Freeform 5"/>
          <p:cNvSpPr/>
          <p:nvPr/>
        </p:nvSpPr>
        <p:spPr>
          <a:xfrm flipH="1" flipV="1">
            <a:off x="-3680067" y="-251105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H="1" flipV="1">
            <a:off x="14607933" y="-126175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3680067" y="489746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4757022" y="6029979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421" y="42135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5486400" y="725805"/>
            <a:ext cx="7315200" cy="605790"/>
          </a:xfrm>
          <a:custGeom>
            <a:avLst/>
            <a:gdLst/>
            <a:ahLst/>
            <a:cxnLst/>
            <a:rect l="l" t="t" r="r" b="b"/>
            <a:pathLst>
              <a:path w="7315200" h="605790">
                <a:moveTo>
                  <a:pt x="0" y="0"/>
                </a:moveTo>
                <a:lnTo>
                  <a:pt x="7315200" y="0"/>
                </a:lnTo>
                <a:lnTo>
                  <a:pt x="7315200" y="605790"/>
                </a:lnTo>
                <a:lnTo>
                  <a:pt x="0" y="6057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V="1">
            <a:off x="5486400" y="8955405"/>
            <a:ext cx="7315200" cy="605790"/>
          </a:xfrm>
          <a:custGeom>
            <a:avLst/>
            <a:gdLst/>
            <a:ahLst/>
            <a:cxnLst/>
            <a:rect l="l" t="t" r="r" b="b"/>
            <a:pathLst>
              <a:path w="7315200" h="605790">
                <a:moveTo>
                  <a:pt x="0" y="605790"/>
                </a:moveTo>
                <a:lnTo>
                  <a:pt x="7315200" y="605790"/>
                </a:lnTo>
                <a:lnTo>
                  <a:pt x="7315200" y="0"/>
                </a:lnTo>
                <a:lnTo>
                  <a:pt x="0" y="0"/>
                </a:lnTo>
                <a:lnTo>
                  <a:pt x="0" y="60579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5852501" y="2573584"/>
            <a:ext cx="6582998" cy="1146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57"/>
              </a:lnSpc>
            </a:pPr>
            <a:r>
              <a:rPr lang="en-US" sz="9711" b="1">
                <a:solidFill>
                  <a:srgbClr val="546A8A"/>
                </a:solidFill>
                <a:latin typeface="Manison Ultra-Bold"/>
                <a:ea typeface="Manison Ultra-Bold"/>
                <a:cs typeface="Manison Ultra-Bold"/>
                <a:sym typeface="Manison Ultra-Bold"/>
              </a:rPr>
              <a:t>Our Team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026601" y="3700532"/>
            <a:ext cx="8547721" cy="45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sz="3399" dirty="0">
                <a:solidFill>
                  <a:srgbClr val="546A8A"/>
                </a:solidFill>
                <a:latin typeface="Poly"/>
                <a:ea typeface="Poly"/>
                <a:cs typeface="Poly"/>
                <a:sym typeface="Poly"/>
              </a:rPr>
              <a:t>Sanjeevani Yadav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157045" y="4302195"/>
            <a:ext cx="8547721" cy="45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sz="3399" dirty="0">
                <a:solidFill>
                  <a:srgbClr val="546A8A"/>
                </a:solidFill>
                <a:latin typeface="Poly"/>
                <a:ea typeface="Poly"/>
                <a:cs typeface="Poly"/>
                <a:sym typeface="Poly"/>
              </a:rPr>
              <a:t>Monali Mate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125090" y="4925657"/>
            <a:ext cx="8547721" cy="45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sz="3399" dirty="0">
                <a:solidFill>
                  <a:srgbClr val="546A8A"/>
                </a:solidFill>
                <a:latin typeface="Poly"/>
                <a:ea typeface="Poly"/>
                <a:cs typeface="Poly"/>
                <a:sym typeface="Poly"/>
              </a:rPr>
              <a:t>Akshay Bangar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57045" y="5564851"/>
            <a:ext cx="8547721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sz="3399" dirty="0" err="1">
                <a:solidFill>
                  <a:srgbClr val="546A8A"/>
                </a:solidFill>
                <a:latin typeface="Poly"/>
                <a:ea typeface="Poly"/>
                <a:cs typeface="Poly"/>
                <a:sym typeface="Poly"/>
              </a:rPr>
              <a:t>Firose</a:t>
            </a:r>
            <a:r>
              <a:rPr lang="en-US" sz="3399" dirty="0">
                <a:solidFill>
                  <a:srgbClr val="546A8A"/>
                </a:solidFill>
                <a:latin typeface="Poly"/>
                <a:ea typeface="Poly"/>
                <a:cs typeface="Poly"/>
                <a:sym typeface="Poly"/>
              </a:rPr>
              <a:t> Pasha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125089" y="6172363"/>
            <a:ext cx="8547721" cy="45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sz="3399" dirty="0">
                <a:solidFill>
                  <a:srgbClr val="546A8A"/>
                </a:solidFill>
                <a:latin typeface="Poly"/>
                <a:ea typeface="Poly"/>
                <a:cs typeface="Poly"/>
                <a:sym typeface="Poly"/>
              </a:rPr>
              <a:t>Mohammed Mirza Ahmed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26601" y="7344157"/>
            <a:ext cx="8547721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sz="3399" dirty="0">
                <a:solidFill>
                  <a:srgbClr val="546A8A"/>
                </a:solidFill>
                <a:latin typeface="Poly"/>
                <a:ea typeface="Poly"/>
                <a:cs typeface="Poly"/>
                <a:sym typeface="Poly"/>
              </a:rPr>
              <a:t>Ashwin N</a:t>
            </a:r>
          </a:p>
        </p:txBody>
      </p:sp>
      <p:sp>
        <p:nvSpPr>
          <p:cNvPr id="12" name="Freeform 12"/>
          <p:cNvSpPr/>
          <p:nvPr/>
        </p:nvSpPr>
        <p:spPr>
          <a:xfrm flipH="1" flipV="1">
            <a:off x="-3530978" y="-240724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flipH="1" flipV="1">
            <a:off x="14607933" y="-126175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-3680067" y="4956234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4757022" y="6029979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F33C6109-959D-6A0F-6EF1-DD8613BA5E28}"/>
              </a:ext>
            </a:extLst>
          </p:cNvPr>
          <p:cNvSpPr txBox="1"/>
          <p:nvPr/>
        </p:nvSpPr>
        <p:spPr>
          <a:xfrm>
            <a:off x="5154587" y="6718264"/>
            <a:ext cx="8547721" cy="45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sz="3399" dirty="0">
                <a:solidFill>
                  <a:srgbClr val="546A8A"/>
                </a:solidFill>
                <a:latin typeface="Poly"/>
                <a:ea typeface="Poly"/>
                <a:cs typeface="Poly"/>
                <a:sym typeface="Poly"/>
              </a:rPr>
              <a:t>Nishant Rane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5486400" y="725805"/>
            <a:ext cx="7315200" cy="605790"/>
          </a:xfrm>
          <a:custGeom>
            <a:avLst/>
            <a:gdLst/>
            <a:ahLst/>
            <a:cxnLst/>
            <a:rect l="l" t="t" r="r" b="b"/>
            <a:pathLst>
              <a:path w="7315200" h="605790">
                <a:moveTo>
                  <a:pt x="0" y="0"/>
                </a:moveTo>
                <a:lnTo>
                  <a:pt x="7315200" y="0"/>
                </a:lnTo>
                <a:lnTo>
                  <a:pt x="7315200" y="605790"/>
                </a:lnTo>
                <a:lnTo>
                  <a:pt x="0" y="6057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V="1">
            <a:off x="5486400" y="8955405"/>
            <a:ext cx="7315200" cy="605790"/>
          </a:xfrm>
          <a:custGeom>
            <a:avLst/>
            <a:gdLst/>
            <a:ahLst/>
            <a:cxnLst/>
            <a:rect l="l" t="t" r="r" b="b"/>
            <a:pathLst>
              <a:path w="7315200" h="605790">
                <a:moveTo>
                  <a:pt x="0" y="605790"/>
                </a:moveTo>
                <a:lnTo>
                  <a:pt x="7315200" y="605790"/>
                </a:lnTo>
                <a:lnTo>
                  <a:pt x="7315200" y="0"/>
                </a:lnTo>
                <a:lnTo>
                  <a:pt x="0" y="0"/>
                </a:lnTo>
                <a:lnTo>
                  <a:pt x="0" y="60579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4445624" y="2514599"/>
            <a:ext cx="9396753" cy="1146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57"/>
              </a:lnSpc>
            </a:pPr>
            <a:r>
              <a:rPr lang="en-US" sz="9711" b="1">
                <a:solidFill>
                  <a:srgbClr val="546A8A"/>
                </a:solidFill>
                <a:latin typeface="Manison Ultra-Bold"/>
                <a:ea typeface="Manison Ultra-Bold"/>
                <a:cs typeface="Manison Ultra-Bold"/>
                <a:sym typeface="Manison Ultra-Bold"/>
              </a:rPr>
              <a:t>Introduction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091847" y="3915411"/>
            <a:ext cx="12104307" cy="3590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546A8A"/>
                </a:solidFill>
                <a:latin typeface="Poly"/>
                <a:ea typeface="Poly"/>
                <a:cs typeface="Poly"/>
                <a:sym typeface="Poly"/>
              </a:rPr>
              <a:t>The organization provided two finance Excel datasets, Finance 1 and Finance 2, containing financial information such as revenue, expenses, profit, and transaction details; the project focused on cleaning, combining, and analyzing the data using Microsoft Excel, Power BI, SQL, and Tableau to generate meaningful insights and dashboards.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091847" y="7873498"/>
            <a:ext cx="11938272" cy="488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1"/>
              </a:lnSpc>
              <a:spcBef>
                <a:spcPct val="0"/>
              </a:spcBef>
            </a:pPr>
            <a:r>
              <a:rPr lang="en-US" sz="3601">
                <a:solidFill>
                  <a:srgbClr val="546A8A"/>
                </a:solidFill>
                <a:latin typeface="Poly"/>
                <a:ea typeface="Poly"/>
                <a:cs typeface="Poly"/>
                <a:sym typeface="Poly"/>
              </a:rPr>
              <a:t>📊 Power BI 📈 Tableau⚡ Excel 🗄️ SQL</a:t>
            </a:r>
          </a:p>
        </p:txBody>
      </p:sp>
      <p:sp>
        <p:nvSpPr>
          <p:cNvPr id="8" name="Freeform 8"/>
          <p:cNvSpPr/>
          <p:nvPr/>
        </p:nvSpPr>
        <p:spPr>
          <a:xfrm flipH="1" flipV="1">
            <a:off x="-3530978" y="-240724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4757022" y="6029979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flipH="1" flipV="1">
            <a:off x="14607933" y="-126175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-3680067" y="489746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5486400" y="725805"/>
            <a:ext cx="7315200" cy="605790"/>
          </a:xfrm>
          <a:custGeom>
            <a:avLst/>
            <a:gdLst/>
            <a:ahLst/>
            <a:cxnLst/>
            <a:rect l="l" t="t" r="r" b="b"/>
            <a:pathLst>
              <a:path w="7315200" h="605790">
                <a:moveTo>
                  <a:pt x="0" y="0"/>
                </a:moveTo>
                <a:lnTo>
                  <a:pt x="7315200" y="0"/>
                </a:lnTo>
                <a:lnTo>
                  <a:pt x="7315200" y="605790"/>
                </a:lnTo>
                <a:lnTo>
                  <a:pt x="0" y="6057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V="1">
            <a:off x="5486400" y="8955405"/>
            <a:ext cx="7315200" cy="605790"/>
          </a:xfrm>
          <a:custGeom>
            <a:avLst/>
            <a:gdLst/>
            <a:ahLst/>
            <a:cxnLst/>
            <a:rect l="l" t="t" r="r" b="b"/>
            <a:pathLst>
              <a:path w="7315200" h="605790">
                <a:moveTo>
                  <a:pt x="0" y="605790"/>
                </a:moveTo>
                <a:lnTo>
                  <a:pt x="7315200" y="605790"/>
                </a:lnTo>
                <a:lnTo>
                  <a:pt x="7315200" y="0"/>
                </a:lnTo>
                <a:lnTo>
                  <a:pt x="0" y="0"/>
                </a:lnTo>
                <a:lnTo>
                  <a:pt x="0" y="60579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818828" y="2514599"/>
            <a:ext cx="12985273" cy="1138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47"/>
              </a:lnSpc>
            </a:pPr>
            <a:r>
              <a:rPr lang="en-US" sz="9699" b="1">
                <a:solidFill>
                  <a:srgbClr val="546A8A"/>
                </a:solidFill>
                <a:latin typeface="Manison Ultra-Bold"/>
                <a:ea typeface="Manison Ultra-Bold"/>
                <a:cs typeface="Manison Ultra-Bold"/>
                <a:sym typeface="Manison Ultra-Bold"/>
              </a:rPr>
              <a:t> Objectives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144231" y="3896696"/>
            <a:ext cx="12975413" cy="4190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546A8A"/>
                </a:solidFill>
                <a:latin typeface="Poly"/>
                <a:ea typeface="Poly"/>
                <a:cs typeface="Poly"/>
                <a:sym typeface="Poly"/>
              </a:rPr>
              <a:t>Created KPIs and performed analysis on: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546A8A"/>
                </a:solidFill>
                <a:latin typeface="Poly"/>
                <a:ea typeface="Poly"/>
                <a:cs typeface="Poly"/>
                <a:sym typeface="Poly"/>
              </a:rPr>
              <a:t>💰Year-wise Loan Amount Statistics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546A8A"/>
                </a:solidFill>
                <a:latin typeface="Poly"/>
                <a:ea typeface="Poly"/>
                <a:cs typeface="Poly"/>
                <a:sym typeface="Poly"/>
              </a:rPr>
              <a:t>💳 Grade &amp; Sub-Grade wise Revolving Balance(revol_bal)revol_bal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546A8A"/>
                </a:solidFill>
                <a:latin typeface="Poly"/>
                <a:ea typeface="Poly"/>
                <a:cs typeface="Poly"/>
                <a:sym typeface="Poly"/>
              </a:rPr>
              <a:t>📈Total Payment for Verified vs Non-Verified Status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546A8A"/>
                </a:solidFill>
                <a:latin typeface="Poly"/>
                <a:ea typeface="Poly"/>
                <a:cs typeface="Poly"/>
                <a:sym typeface="Poly"/>
              </a:rPr>
              <a:t>🌍 State-wise and Month-wise Loan Status 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546A8A"/>
                </a:solidFill>
                <a:latin typeface="Poly"/>
                <a:ea typeface="Poly"/>
                <a:cs typeface="Poly"/>
                <a:sym typeface="Poly"/>
              </a:rPr>
              <a:t>🏠Home Ownership vs Last Payment Date Statistics</a:t>
            </a:r>
          </a:p>
          <a:p>
            <a:pPr algn="ctr">
              <a:lnSpc>
                <a:spcPts val="4759"/>
              </a:lnSpc>
            </a:pPr>
            <a:endParaRPr lang="en-US" sz="3399">
              <a:solidFill>
                <a:srgbClr val="546A8A"/>
              </a:solidFill>
              <a:latin typeface="Poly"/>
              <a:ea typeface="Poly"/>
              <a:cs typeface="Poly"/>
              <a:sym typeface="Poly"/>
            </a:endParaRPr>
          </a:p>
        </p:txBody>
      </p:sp>
      <p:sp>
        <p:nvSpPr>
          <p:cNvPr id="7" name="Freeform 7"/>
          <p:cNvSpPr/>
          <p:nvPr/>
        </p:nvSpPr>
        <p:spPr>
          <a:xfrm flipH="1" flipV="1">
            <a:off x="-3530978" y="-240724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flipH="1" flipV="1">
            <a:off x="14607933" y="-126175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-3680067" y="489746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4757022" y="6029979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5486400" y="725805"/>
            <a:ext cx="7315200" cy="605790"/>
          </a:xfrm>
          <a:custGeom>
            <a:avLst/>
            <a:gdLst/>
            <a:ahLst/>
            <a:cxnLst/>
            <a:rect l="l" t="t" r="r" b="b"/>
            <a:pathLst>
              <a:path w="7315200" h="605790">
                <a:moveTo>
                  <a:pt x="0" y="0"/>
                </a:moveTo>
                <a:lnTo>
                  <a:pt x="7315200" y="0"/>
                </a:lnTo>
                <a:lnTo>
                  <a:pt x="7315200" y="605790"/>
                </a:lnTo>
                <a:lnTo>
                  <a:pt x="0" y="6057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V="1">
            <a:off x="5486400" y="8955405"/>
            <a:ext cx="7315200" cy="605790"/>
          </a:xfrm>
          <a:custGeom>
            <a:avLst/>
            <a:gdLst/>
            <a:ahLst/>
            <a:cxnLst/>
            <a:rect l="l" t="t" r="r" b="b"/>
            <a:pathLst>
              <a:path w="7315200" h="605790">
                <a:moveTo>
                  <a:pt x="0" y="605790"/>
                </a:moveTo>
                <a:lnTo>
                  <a:pt x="7315200" y="605790"/>
                </a:lnTo>
                <a:lnTo>
                  <a:pt x="7315200" y="0"/>
                </a:lnTo>
                <a:lnTo>
                  <a:pt x="0" y="0"/>
                </a:lnTo>
                <a:lnTo>
                  <a:pt x="0" y="60579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3266838" y="2514599"/>
            <a:ext cx="13320202" cy="115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47"/>
              </a:lnSpc>
            </a:pPr>
            <a:r>
              <a:rPr lang="en-US" sz="9699" b="1" dirty="0">
                <a:solidFill>
                  <a:srgbClr val="546A8A"/>
                </a:solidFill>
                <a:latin typeface="Manison Ultra-Bold"/>
                <a:ea typeface="Manison Ultra-Bold"/>
                <a:cs typeface="Manison Ultra-Bold"/>
                <a:sym typeface="Manison Ultra-Bold"/>
              </a:rPr>
              <a:t>Planning the Analysis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948306" y="3871086"/>
            <a:ext cx="12975413" cy="4790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546A8A"/>
                </a:solidFill>
                <a:latin typeface="Poly"/>
                <a:ea typeface="Poly"/>
                <a:cs typeface="Poly"/>
                <a:sym typeface="Poly"/>
              </a:rPr>
              <a:t>Reviewed finance data fields like loan amount, grade, payment status, and home ownership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546A8A"/>
                </a:solidFill>
                <a:latin typeface="Poly"/>
                <a:ea typeface="Poly"/>
                <a:cs typeface="Poly"/>
                <a:sym typeface="Poly"/>
              </a:rPr>
              <a:t>Organized and cleaned Finance 1 and Finance 2 datasets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546A8A"/>
                </a:solidFill>
                <a:latin typeface="Poly"/>
                <a:ea typeface="Poly"/>
                <a:cs typeface="Poly"/>
                <a:sym typeface="Poly"/>
              </a:rPr>
              <a:t>Combined both datasets into a single master dataset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546A8A"/>
                </a:solidFill>
                <a:latin typeface="Poly"/>
                <a:ea typeface="Poly"/>
                <a:cs typeface="Poly"/>
                <a:sym typeface="Poly"/>
              </a:rPr>
              <a:t>Used Microsoft Excel, SQL, Power BI, and Tableau for analysis and dashboard creation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546A8A"/>
                </a:solidFill>
                <a:latin typeface="Poly"/>
                <a:ea typeface="Poly"/>
                <a:cs typeface="Poly"/>
                <a:sym typeface="Poly"/>
              </a:rPr>
              <a:t>Planned dashboards to visualize financial trends and loan performance</a:t>
            </a:r>
          </a:p>
        </p:txBody>
      </p:sp>
      <p:sp>
        <p:nvSpPr>
          <p:cNvPr id="7" name="Freeform 7"/>
          <p:cNvSpPr/>
          <p:nvPr/>
        </p:nvSpPr>
        <p:spPr>
          <a:xfrm flipH="1" flipV="1">
            <a:off x="-3530978" y="-240724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flipH="1" flipV="1">
            <a:off x="14607933" y="-126175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-3680067" y="489746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4757022" y="6029979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5486400" y="725805"/>
            <a:ext cx="7315200" cy="605790"/>
          </a:xfrm>
          <a:custGeom>
            <a:avLst/>
            <a:gdLst/>
            <a:ahLst/>
            <a:cxnLst/>
            <a:rect l="l" t="t" r="r" b="b"/>
            <a:pathLst>
              <a:path w="7315200" h="605790">
                <a:moveTo>
                  <a:pt x="0" y="0"/>
                </a:moveTo>
                <a:lnTo>
                  <a:pt x="7315200" y="0"/>
                </a:lnTo>
                <a:lnTo>
                  <a:pt x="7315200" y="605790"/>
                </a:lnTo>
                <a:lnTo>
                  <a:pt x="0" y="6057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V="1">
            <a:off x="5486400" y="8955405"/>
            <a:ext cx="7315200" cy="605790"/>
          </a:xfrm>
          <a:custGeom>
            <a:avLst/>
            <a:gdLst/>
            <a:ahLst/>
            <a:cxnLst/>
            <a:rect l="l" t="t" r="r" b="b"/>
            <a:pathLst>
              <a:path w="7315200" h="605790">
                <a:moveTo>
                  <a:pt x="0" y="605790"/>
                </a:moveTo>
                <a:lnTo>
                  <a:pt x="7315200" y="605790"/>
                </a:lnTo>
                <a:lnTo>
                  <a:pt x="7315200" y="0"/>
                </a:lnTo>
                <a:lnTo>
                  <a:pt x="0" y="0"/>
                </a:lnTo>
                <a:lnTo>
                  <a:pt x="0" y="60579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H="1" flipV="1">
            <a:off x="-3680067" y="-251105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744993" y="3516431"/>
            <a:ext cx="7482814" cy="4281033"/>
          </a:xfrm>
          <a:custGeom>
            <a:avLst/>
            <a:gdLst/>
            <a:ahLst/>
            <a:cxnLst/>
            <a:rect l="l" t="t" r="r" b="b"/>
            <a:pathLst>
              <a:path w="7482814" h="4281033">
                <a:moveTo>
                  <a:pt x="0" y="0"/>
                </a:moveTo>
                <a:lnTo>
                  <a:pt x="7482814" y="0"/>
                </a:lnTo>
                <a:lnTo>
                  <a:pt x="7482814" y="4281033"/>
                </a:lnTo>
                <a:lnTo>
                  <a:pt x="0" y="42810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  <a:ln w="38100" cap="sq">
            <a:solidFill>
              <a:srgbClr val="FBFBFB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4607933" y="592616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9665774" y="3516431"/>
            <a:ext cx="6774485" cy="3962961"/>
          </a:xfrm>
          <a:custGeom>
            <a:avLst/>
            <a:gdLst/>
            <a:ahLst/>
            <a:cxnLst/>
            <a:rect l="l" t="t" r="r" b="b"/>
            <a:pathLst>
              <a:path w="6774485" h="3962961">
                <a:moveTo>
                  <a:pt x="0" y="0"/>
                </a:moveTo>
                <a:lnTo>
                  <a:pt x="6774484" y="0"/>
                </a:lnTo>
                <a:lnTo>
                  <a:pt x="6774484" y="3962961"/>
                </a:lnTo>
                <a:lnTo>
                  <a:pt x="0" y="39629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28" r="-3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4445624" y="2129591"/>
            <a:ext cx="9396753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6999" b="1">
                <a:solidFill>
                  <a:srgbClr val="546A8A"/>
                </a:solidFill>
                <a:latin typeface="Manison Bold"/>
                <a:ea typeface="Manison Bold"/>
                <a:cs typeface="Manison Bold"/>
                <a:sym typeface="Manison Bold"/>
              </a:rPr>
              <a:t>Dashboard</a:t>
            </a:r>
          </a:p>
        </p:txBody>
      </p:sp>
      <p:sp>
        <p:nvSpPr>
          <p:cNvPr id="10" name="Freeform 10"/>
          <p:cNvSpPr/>
          <p:nvPr/>
        </p:nvSpPr>
        <p:spPr>
          <a:xfrm>
            <a:off x="-3680067" y="489746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flipH="1" flipV="1">
            <a:off x="14607933" y="-126175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5486400" y="725805"/>
            <a:ext cx="7315200" cy="605790"/>
          </a:xfrm>
          <a:custGeom>
            <a:avLst/>
            <a:gdLst/>
            <a:ahLst/>
            <a:cxnLst/>
            <a:rect l="l" t="t" r="r" b="b"/>
            <a:pathLst>
              <a:path w="7315200" h="605790">
                <a:moveTo>
                  <a:pt x="0" y="0"/>
                </a:moveTo>
                <a:lnTo>
                  <a:pt x="7315200" y="0"/>
                </a:lnTo>
                <a:lnTo>
                  <a:pt x="7315200" y="605790"/>
                </a:lnTo>
                <a:lnTo>
                  <a:pt x="0" y="6057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V="1">
            <a:off x="5486400" y="8955405"/>
            <a:ext cx="7315200" cy="605790"/>
          </a:xfrm>
          <a:custGeom>
            <a:avLst/>
            <a:gdLst/>
            <a:ahLst/>
            <a:cxnLst/>
            <a:rect l="l" t="t" r="r" b="b"/>
            <a:pathLst>
              <a:path w="7315200" h="605790">
                <a:moveTo>
                  <a:pt x="0" y="605790"/>
                </a:moveTo>
                <a:lnTo>
                  <a:pt x="7315200" y="605790"/>
                </a:lnTo>
                <a:lnTo>
                  <a:pt x="7315200" y="0"/>
                </a:lnTo>
                <a:lnTo>
                  <a:pt x="0" y="0"/>
                </a:lnTo>
                <a:lnTo>
                  <a:pt x="0" y="60579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3169009" y="1786284"/>
            <a:ext cx="5816164" cy="3803532"/>
          </a:xfrm>
          <a:custGeom>
            <a:avLst/>
            <a:gdLst/>
            <a:ahLst/>
            <a:cxnLst/>
            <a:rect l="l" t="t" r="r" b="b"/>
            <a:pathLst>
              <a:path w="5816164" h="3803532">
                <a:moveTo>
                  <a:pt x="0" y="0"/>
                </a:moveTo>
                <a:lnTo>
                  <a:pt x="5816164" y="0"/>
                </a:lnTo>
                <a:lnTo>
                  <a:pt x="5816164" y="3803532"/>
                </a:lnTo>
                <a:lnTo>
                  <a:pt x="0" y="38035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9296400" y="1824384"/>
            <a:ext cx="6346193" cy="3811905"/>
          </a:xfrm>
          <a:custGeom>
            <a:avLst/>
            <a:gdLst/>
            <a:ahLst/>
            <a:cxnLst/>
            <a:rect l="l" t="t" r="r" b="b"/>
            <a:pathLst>
              <a:path w="6346193" h="3811905">
                <a:moveTo>
                  <a:pt x="0" y="0"/>
                </a:moveTo>
                <a:lnTo>
                  <a:pt x="6346193" y="0"/>
                </a:lnTo>
                <a:lnTo>
                  <a:pt x="6346193" y="3811905"/>
                </a:lnTo>
                <a:lnTo>
                  <a:pt x="0" y="38119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4011852" y="5930880"/>
            <a:ext cx="9718042" cy="3866318"/>
          </a:xfrm>
          <a:custGeom>
            <a:avLst/>
            <a:gdLst/>
            <a:ahLst/>
            <a:cxnLst/>
            <a:rect l="l" t="t" r="r" b="b"/>
            <a:pathLst>
              <a:path w="9718042" h="3866318">
                <a:moveTo>
                  <a:pt x="0" y="0"/>
                </a:moveTo>
                <a:lnTo>
                  <a:pt x="9718042" y="0"/>
                </a:lnTo>
                <a:lnTo>
                  <a:pt x="9718042" y="3866318"/>
                </a:lnTo>
                <a:lnTo>
                  <a:pt x="0" y="38663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-3680067" y="489746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flipH="1" flipV="1">
            <a:off x="14607933" y="-126175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4757022" y="6029979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flipH="1" flipV="1">
            <a:off x="-3530978" y="-240724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3680067" y="489746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 flipV="1">
            <a:off x="14607933" y="-126175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4607933" y="592616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H="1" flipV="1">
            <a:off x="-3680067" y="-251105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2552113" y="2471205"/>
            <a:ext cx="3690464" cy="3638179"/>
          </a:xfrm>
          <a:custGeom>
            <a:avLst/>
            <a:gdLst/>
            <a:ahLst/>
            <a:cxnLst/>
            <a:rect l="l" t="t" r="r" b="b"/>
            <a:pathLst>
              <a:path w="3690464" h="3638179">
                <a:moveTo>
                  <a:pt x="0" y="0"/>
                </a:moveTo>
                <a:lnTo>
                  <a:pt x="3690464" y="0"/>
                </a:lnTo>
                <a:lnTo>
                  <a:pt x="3690464" y="3638179"/>
                </a:lnTo>
                <a:lnTo>
                  <a:pt x="0" y="36381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718" b="-71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4589165" y="1010851"/>
            <a:ext cx="9396753" cy="1146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57"/>
              </a:lnSpc>
            </a:pPr>
            <a:r>
              <a:rPr lang="en-US" sz="9711" b="1">
                <a:solidFill>
                  <a:srgbClr val="546A8A"/>
                </a:solidFill>
                <a:latin typeface="Manison Ultra-Bold"/>
                <a:ea typeface="Manison Ultra-Bold"/>
                <a:cs typeface="Manison Ultra-Bold"/>
                <a:sym typeface="Manison Ultra-Bold"/>
              </a:rPr>
              <a:t>SQL Work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350493" y="2554976"/>
            <a:ext cx="8974482" cy="4076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dirty="0">
                <a:solidFill>
                  <a:srgbClr val="71AE49"/>
                </a:solidFill>
                <a:latin typeface="Poly"/>
                <a:ea typeface="Poly"/>
                <a:cs typeface="Poly"/>
                <a:sym typeface="Poly"/>
              </a:rPr>
              <a:t>Loading Data</a:t>
            </a:r>
          </a:p>
          <a:p>
            <a:pPr algn="l">
              <a:lnSpc>
                <a:spcPts val="3779"/>
              </a:lnSpc>
            </a:pPr>
            <a:r>
              <a:rPr lang="en-US" sz="2699" dirty="0">
                <a:solidFill>
                  <a:srgbClr val="71AE49"/>
                </a:solidFill>
                <a:latin typeface="Poly"/>
                <a:ea typeface="Poly"/>
                <a:cs typeface="Poly"/>
                <a:sym typeface="Poly"/>
              </a:rPr>
              <a:t> </a:t>
            </a:r>
          </a:p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71AE49"/>
                </a:solidFill>
                <a:latin typeface="Poly"/>
                <a:ea typeface="Poly"/>
                <a:cs typeface="Poly"/>
                <a:sym typeface="Poly"/>
              </a:rPr>
              <a:t>LOAD DATA INFILE '"C:\Program Files\MySQL\MySQL Server 8.0\Data\Finance_1.csv"'</a:t>
            </a:r>
          </a:p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71AE49"/>
                </a:solidFill>
                <a:latin typeface="Poly"/>
                <a:ea typeface="Poly"/>
                <a:cs typeface="Poly"/>
                <a:sym typeface="Poly"/>
              </a:rPr>
              <a:t>INTO TABLE finance_1</a:t>
            </a:r>
          </a:p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71AE49"/>
                </a:solidFill>
                <a:latin typeface="Poly"/>
                <a:ea typeface="Poly"/>
                <a:cs typeface="Poly"/>
                <a:sym typeface="Poly"/>
              </a:rPr>
              <a:t>FIELDS TERMINATED BY ','</a:t>
            </a:r>
          </a:p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71AE49"/>
                </a:solidFill>
                <a:latin typeface="Poly"/>
                <a:ea typeface="Poly"/>
                <a:cs typeface="Poly"/>
                <a:sym typeface="Poly"/>
              </a:rPr>
              <a:t>OPTIONALLY ENCLOSED BY '"'</a:t>
            </a:r>
          </a:p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71AE49"/>
                </a:solidFill>
                <a:latin typeface="Poly"/>
                <a:ea typeface="Poly"/>
                <a:cs typeface="Poly"/>
                <a:sym typeface="Poly"/>
              </a:rPr>
              <a:t>LINES TERMINATED BY '\r\n'</a:t>
            </a:r>
          </a:p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71AE49"/>
                </a:solidFill>
                <a:latin typeface="Poly"/>
                <a:ea typeface="Poly"/>
                <a:cs typeface="Poly"/>
                <a:sym typeface="Poly"/>
              </a:rPr>
              <a:t>IGNORE 1 ROWS;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350493" y="6956161"/>
            <a:ext cx="7299839" cy="2821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144">
                <a:solidFill>
                  <a:srgbClr val="71AE4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STATE WISE AND MONTH WISE LOAN STATUS</a:t>
            </a:r>
          </a:p>
          <a:p>
            <a:pPr algn="l">
              <a:lnSpc>
                <a:spcPts val="2520"/>
              </a:lnSpc>
            </a:pPr>
            <a:endParaRPr lang="en-US" sz="1800" b="1" spc="144">
              <a:solidFill>
                <a:srgbClr val="71AE49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71AE49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SELECT </a:t>
            </a:r>
          </a:p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71AE49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   addr_state,</a:t>
            </a:r>
          </a:p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71AE49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   COUNT(id) AS Total_Loans,</a:t>
            </a:r>
          </a:p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71AE49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   SUM(loan_amnt) AS Total_Loan_Amount</a:t>
            </a:r>
          </a:p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71AE49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FROM finance_1</a:t>
            </a:r>
          </a:p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71AE49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GROUP BY addr_state</a:t>
            </a:r>
          </a:p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71AE49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ORDER BY Total_Loan_Amount DESC;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3144485" y="2417555"/>
            <a:ext cx="9237641" cy="4162656"/>
            <a:chOff x="0" y="0"/>
            <a:chExt cx="2432959" cy="109633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432959" cy="1096337"/>
            </a:xfrm>
            <a:custGeom>
              <a:avLst/>
              <a:gdLst/>
              <a:ahLst/>
              <a:cxnLst/>
              <a:rect l="l" t="t" r="r" b="b"/>
              <a:pathLst>
                <a:path w="2432959" h="1096337">
                  <a:moveTo>
                    <a:pt x="0" y="0"/>
                  </a:moveTo>
                  <a:lnTo>
                    <a:pt x="2432959" y="0"/>
                  </a:lnTo>
                  <a:lnTo>
                    <a:pt x="2432959" y="1096337"/>
                  </a:lnTo>
                  <a:lnTo>
                    <a:pt x="0" y="1096337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432959" cy="11344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144485" y="6827861"/>
            <a:ext cx="9237641" cy="3014330"/>
            <a:chOff x="0" y="0"/>
            <a:chExt cx="2432959" cy="79389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32959" cy="793898"/>
            </a:xfrm>
            <a:custGeom>
              <a:avLst/>
              <a:gdLst/>
              <a:ahLst/>
              <a:cxnLst/>
              <a:rect l="l" t="t" r="r" b="b"/>
              <a:pathLst>
                <a:path w="2432959" h="793898">
                  <a:moveTo>
                    <a:pt x="0" y="0"/>
                  </a:moveTo>
                  <a:lnTo>
                    <a:pt x="2432959" y="0"/>
                  </a:lnTo>
                  <a:lnTo>
                    <a:pt x="2432959" y="793898"/>
                  </a:lnTo>
                  <a:lnTo>
                    <a:pt x="0" y="793898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432959" cy="8319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480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533629" y="1124616"/>
            <a:ext cx="5010836" cy="3115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>
                <a:solidFill>
                  <a:srgbClr val="71AE4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HOME OWNERSHIP ANALYSIS</a:t>
            </a:r>
          </a:p>
          <a:p>
            <a:pPr algn="l">
              <a:lnSpc>
                <a:spcPts val="3079"/>
              </a:lnSpc>
            </a:pPr>
            <a:endParaRPr lang="en-US" sz="2199" b="1">
              <a:solidFill>
                <a:srgbClr val="71AE49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algn="l">
              <a:lnSpc>
                <a:spcPts val="3079"/>
              </a:lnSpc>
            </a:pPr>
            <a:r>
              <a:rPr lang="en-US" sz="2199" b="1">
                <a:solidFill>
                  <a:srgbClr val="71AE49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SELECT </a:t>
            </a:r>
          </a:p>
          <a:p>
            <a:pPr algn="l">
              <a:lnSpc>
                <a:spcPts val="3079"/>
              </a:lnSpc>
            </a:pPr>
            <a:r>
              <a:rPr lang="en-US" sz="2199" b="1">
                <a:solidFill>
                  <a:srgbClr val="71AE49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   home_ownership,</a:t>
            </a:r>
          </a:p>
          <a:p>
            <a:pPr algn="l">
              <a:lnSpc>
                <a:spcPts val="3079"/>
              </a:lnSpc>
            </a:pPr>
            <a:r>
              <a:rPr lang="en-US" sz="2199" b="1">
                <a:solidFill>
                  <a:srgbClr val="71AE49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   COUNT(*) AS Total_Customers</a:t>
            </a:r>
          </a:p>
          <a:p>
            <a:pPr algn="l">
              <a:lnSpc>
                <a:spcPts val="3079"/>
              </a:lnSpc>
            </a:pPr>
            <a:r>
              <a:rPr lang="en-US" sz="2199" b="1">
                <a:solidFill>
                  <a:srgbClr val="71AE49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FROM finance_1</a:t>
            </a:r>
          </a:p>
          <a:p>
            <a:pPr algn="l">
              <a:lnSpc>
                <a:spcPts val="3079"/>
              </a:lnSpc>
            </a:pPr>
            <a:r>
              <a:rPr lang="en-US" sz="2199" b="1">
                <a:solidFill>
                  <a:srgbClr val="71AE49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GROUP BY home_ownership</a:t>
            </a:r>
          </a:p>
          <a:p>
            <a:pPr algn="l">
              <a:lnSpc>
                <a:spcPts val="3079"/>
              </a:lnSpc>
            </a:pPr>
            <a:r>
              <a:rPr lang="en-US" sz="2199" b="1">
                <a:solidFill>
                  <a:srgbClr val="71AE49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ORDER BY Total_Customers DESC;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349891" y="5413375"/>
            <a:ext cx="5194574" cy="3506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 dirty="0">
                <a:solidFill>
                  <a:srgbClr val="71AE4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YEAR WISE LOAN TREND</a:t>
            </a:r>
          </a:p>
          <a:p>
            <a:pPr algn="l">
              <a:lnSpc>
                <a:spcPts val="3079"/>
              </a:lnSpc>
            </a:pPr>
            <a:endParaRPr lang="en-US" sz="2199" b="1" dirty="0">
              <a:solidFill>
                <a:srgbClr val="71AE49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algn="l">
              <a:lnSpc>
                <a:spcPts val="3079"/>
              </a:lnSpc>
            </a:pPr>
            <a:r>
              <a:rPr lang="en-US" sz="2199" b="1" dirty="0">
                <a:solidFill>
                  <a:srgbClr val="71AE49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SELECT </a:t>
            </a:r>
          </a:p>
          <a:p>
            <a:pPr algn="l">
              <a:lnSpc>
                <a:spcPts val="3079"/>
              </a:lnSpc>
            </a:pPr>
            <a:r>
              <a:rPr lang="en-US" sz="2199" b="1" dirty="0">
                <a:solidFill>
                  <a:srgbClr val="71AE49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   Year,</a:t>
            </a:r>
          </a:p>
          <a:p>
            <a:pPr algn="l">
              <a:lnSpc>
                <a:spcPts val="3079"/>
              </a:lnSpc>
            </a:pPr>
            <a:r>
              <a:rPr lang="en-US" sz="2199" b="1" dirty="0">
                <a:solidFill>
                  <a:srgbClr val="71AE49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   SUM(loan_amnt) AS </a:t>
            </a:r>
            <a:r>
              <a:rPr lang="en-US" sz="2199" b="1" dirty="0" err="1">
                <a:solidFill>
                  <a:srgbClr val="71AE49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Total_Loan_Amount</a:t>
            </a:r>
            <a:endParaRPr lang="en-US" sz="2199" b="1" dirty="0">
              <a:solidFill>
                <a:srgbClr val="71AE49"/>
              </a:solidFill>
              <a:latin typeface="HK Grotesk Medium"/>
              <a:ea typeface="HK Grotesk Medium"/>
              <a:cs typeface="HK Grotesk Medium"/>
              <a:sym typeface="HK Grotesk Medium"/>
            </a:endParaRPr>
          </a:p>
          <a:p>
            <a:pPr algn="l">
              <a:lnSpc>
                <a:spcPts val="3079"/>
              </a:lnSpc>
            </a:pPr>
            <a:r>
              <a:rPr lang="en-US" sz="2199" b="1" dirty="0">
                <a:solidFill>
                  <a:srgbClr val="71AE49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FROM finance_1</a:t>
            </a:r>
          </a:p>
          <a:p>
            <a:pPr algn="l">
              <a:lnSpc>
                <a:spcPts val="3079"/>
              </a:lnSpc>
            </a:pPr>
            <a:r>
              <a:rPr lang="en-US" sz="2199" b="1" dirty="0">
                <a:solidFill>
                  <a:srgbClr val="71AE49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GROUP BY Year</a:t>
            </a:r>
          </a:p>
          <a:p>
            <a:pPr algn="l">
              <a:lnSpc>
                <a:spcPts val="3079"/>
              </a:lnSpc>
            </a:pPr>
            <a:r>
              <a:rPr lang="en-US" sz="2199" b="1" dirty="0">
                <a:solidFill>
                  <a:srgbClr val="71AE49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ORDER BY Year;</a:t>
            </a:r>
          </a:p>
        </p:txBody>
      </p:sp>
      <p:sp>
        <p:nvSpPr>
          <p:cNvPr id="5" name="Freeform 5"/>
          <p:cNvSpPr/>
          <p:nvPr/>
        </p:nvSpPr>
        <p:spPr>
          <a:xfrm>
            <a:off x="-3680067" y="489746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H="1" flipV="1">
            <a:off x="14607933" y="-126175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4607933" y="592616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flipH="1" flipV="1">
            <a:off x="-3680067" y="-251105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9144000" y="1124616"/>
            <a:ext cx="5051033" cy="3165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 dirty="0">
                <a:solidFill>
                  <a:srgbClr val="71AE4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VERIFIED VS NON  VERIFIED CUSTOMERS</a:t>
            </a:r>
          </a:p>
          <a:p>
            <a:pPr algn="l">
              <a:lnSpc>
                <a:spcPts val="3079"/>
              </a:lnSpc>
            </a:pPr>
            <a:endParaRPr lang="en-US" sz="2199" b="1" dirty="0">
              <a:solidFill>
                <a:srgbClr val="71AE49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algn="l">
              <a:lnSpc>
                <a:spcPts val="3079"/>
              </a:lnSpc>
            </a:pPr>
            <a:r>
              <a:rPr lang="en-US" sz="2199" b="1" dirty="0">
                <a:solidFill>
                  <a:srgbClr val="71AE49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SELECT </a:t>
            </a:r>
          </a:p>
          <a:p>
            <a:pPr algn="l">
              <a:lnSpc>
                <a:spcPts val="3079"/>
              </a:lnSpc>
            </a:pPr>
            <a:r>
              <a:rPr lang="en-US" sz="2199" b="1" dirty="0">
                <a:solidFill>
                  <a:srgbClr val="71AE49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   verification_status,</a:t>
            </a:r>
          </a:p>
          <a:p>
            <a:pPr algn="l">
              <a:lnSpc>
                <a:spcPts val="3079"/>
              </a:lnSpc>
            </a:pPr>
            <a:r>
              <a:rPr lang="en-US" sz="2199" b="1" dirty="0">
                <a:solidFill>
                  <a:srgbClr val="71AE49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   COUNT(*) AS Total_Customers</a:t>
            </a:r>
          </a:p>
          <a:p>
            <a:pPr algn="l">
              <a:lnSpc>
                <a:spcPts val="3079"/>
              </a:lnSpc>
            </a:pPr>
            <a:r>
              <a:rPr lang="en-US" sz="2199" b="1" dirty="0">
                <a:solidFill>
                  <a:srgbClr val="71AE49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FROM finance_1</a:t>
            </a:r>
          </a:p>
          <a:p>
            <a:pPr algn="l">
              <a:lnSpc>
                <a:spcPts val="3079"/>
              </a:lnSpc>
            </a:pPr>
            <a:r>
              <a:rPr lang="en-US" sz="2199" b="1" dirty="0">
                <a:solidFill>
                  <a:srgbClr val="71AE49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GROUP BY verification_status;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098173" y="5218113"/>
            <a:ext cx="5051033" cy="3896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 dirty="0">
                <a:solidFill>
                  <a:srgbClr val="71AE4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TOP 10 HIGHEST LOANS</a:t>
            </a:r>
          </a:p>
          <a:p>
            <a:pPr algn="l">
              <a:lnSpc>
                <a:spcPts val="3079"/>
              </a:lnSpc>
            </a:pPr>
            <a:endParaRPr lang="en-US" sz="2199" b="1" dirty="0">
              <a:solidFill>
                <a:srgbClr val="71AE49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algn="l">
              <a:lnSpc>
                <a:spcPts val="3079"/>
              </a:lnSpc>
            </a:pPr>
            <a:r>
              <a:rPr lang="en-US" sz="2199" b="1" dirty="0">
                <a:solidFill>
                  <a:srgbClr val="71AE4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SELECT </a:t>
            </a:r>
          </a:p>
          <a:p>
            <a:pPr algn="l">
              <a:lnSpc>
                <a:spcPts val="3079"/>
              </a:lnSpc>
            </a:pPr>
            <a:r>
              <a:rPr lang="en-US" sz="2199" b="1" dirty="0">
                <a:solidFill>
                  <a:srgbClr val="71AE4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   id,</a:t>
            </a:r>
          </a:p>
          <a:p>
            <a:pPr algn="l">
              <a:lnSpc>
                <a:spcPts val="3079"/>
              </a:lnSpc>
            </a:pPr>
            <a:r>
              <a:rPr lang="en-US" sz="2199" b="1" dirty="0">
                <a:solidFill>
                  <a:srgbClr val="71AE4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   </a:t>
            </a:r>
            <a:r>
              <a:rPr lang="en-US" sz="2199" b="1" dirty="0" err="1">
                <a:solidFill>
                  <a:srgbClr val="71AE4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loan_amnt</a:t>
            </a:r>
            <a:r>
              <a:rPr lang="en-US" sz="2199" b="1" dirty="0">
                <a:solidFill>
                  <a:srgbClr val="71AE4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,</a:t>
            </a:r>
          </a:p>
          <a:p>
            <a:pPr algn="l">
              <a:lnSpc>
                <a:spcPts val="3079"/>
              </a:lnSpc>
            </a:pPr>
            <a:r>
              <a:rPr lang="en-US" sz="2199" b="1" dirty="0">
                <a:solidFill>
                  <a:srgbClr val="71AE4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   grade,</a:t>
            </a:r>
          </a:p>
          <a:p>
            <a:pPr algn="l">
              <a:lnSpc>
                <a:spcPts val="3079"/>
              </a:lnSpc>
            </a:pPr>
            <a:r>
              <a:rPr lang="en-US" sz="2199" b="1" dirty="0">
                <a:solidFill>
                  <a:srgbClr val="71AE4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   </a:t>
            </a:r>
            <a:r>
              <a:rPr lang="en-US" sz="2199" b="1" dirty="0" err="1">
                <a:solidFill>
                  <a:srgbClr val="71AE4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annual_inc</a:t>
            </a:r>
            <a:endParaRPr lang="en-US" sz="2199" b="1" dirty="0">
              <a:solidFill>
                <a:srgbClr val="71AE49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algn="l">
              <a:lnSpc>
                <a:spcPts val="3079"/>
              </a:lnSpc>
            </a:pPr>
            <a:r>
              <a:rPr lang="en-US" sz="2199" b="1" dirty="0">
                <a:solidFill>
                  <a:srgbClr val="71AE4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FROM finance_1</a:t>
            </a:r>
          </a:p>
          <a:p>
            <a:pPr algn="l">
              <a:lnSpc>
                <a:spcPts val="3079"/>
              </a:lnSpc>
            </a:pPr>
            <a:r>
              <a:rPr lang="en-US" sz="2199" b="1" dirty="0">
                <a:solidFill>
                  <a:srgbClr val="71AE4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ORDER BY </a:t>
            </a:r>
            <a:r>
              <a:rPr lang="en-US" sz="2199" b="1" dirty="0" err="1">
                <a:solidFill>
                  <a:srgbClr val="71AE4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loan_amnt</a:t>
            </a:r>
            <a:r>
              <a:rPr lang="en-US" sz="2199" b="1" dirty="0">
                <a:solidFill>
                  <a:srgbClr val="71AE4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DESC</a:t>
            </a:r>
          </a:p>
          <a:p>
            <a:pPr algn="l">
              <a:lnSpc>
                <a:spcPts val="3079"/>
              </a:lnSpc>
            </a:pPr>
            <a:r>
              <a:rPr lang="en-US" sz="2199" b="1" dirty="0">
                <a:solidFill>
                  <a:srgbClr val="71AE4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LIMIT 10;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3254911" y="881365"/>
            <a:ext cx="5384534" cy="3516723"/>
            <a:chOff x="0" y="0"/>
            <a:chExt cx="1418149" cy="92621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18149" cy="926215"/>
            </a:xfrm>
            <a:custGeom>
              <a:avLst/>
              <a:gdLst/>
              <a:ahLst/>
              <a:cxnLst/>
              <a:rect l="l" t="t" r="r" b="b"/>
              <a:pathLst>
                <a:path w="1418149" h="926215">
                  <a:moveTo>
                    <a:pt x="0" y="0"/>
                  </a:moveTo>
                  <a:lnTo>
                    <a:pt x="1418149" y="0"/>
                  </a:lnTo>
                  <a:lnTo>
                    <a:pt x="1418149" y="926215"/>
                  </a:lnTo>
                  <a:lnTo>
                    <a:pt x="0" y="926215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418149" cy="964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978912" y="881365"/>
            <a:ext cx="5384534" cy="3516723"/>
            <a:chOff x="0" y="0"/>
            <a:chExt cx="1418149" cy="92621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18149" cy="926215"/>
            </a:xfrm>
            <a:custGeom>
              <a:avLst/>
              <a:gdLst/>
              <a:ahLst/>
              <a:cxnLst/>
              <a:rect l="l" t="t" r="r" b="b"/>
              <a:pathLst>
                <a:path w="1418149" h="926215">
                  <a:moveTo>
                    <a:pt x="0" y="0"/>
                  </a:moveTo>
                  <a:lnTo>
                    <a:pt x="1418149" y="0"/>
                  </a:lnTo>
                  <a:lnTo>
                    <a:pt x="1418149" y="926215"/>
                  </a:lnTo>
                  <a:lnTo>
                    <a:pt x="0" y="926215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418149" cy="964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254911" y="4924108"/>
            <a:ext cx="5384534" cy="4114800"/>
            <a:chOff x="0" y="0"/>
            <a:chExt cx="1418149" cy="108373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418149" cy="1083733"/>
            </a:xfrm>
            <a:custGeom>
              <a:avLst/>
              <a:gdLst/>
              <a:ahLst/>
              <a:cxnLst/>
              <a:rect l="l" t="t" r="r" b="b"/>
              <a:pathLst>
                <a:path w="1418149" h="1083733">
                  <a:moveTo>
                    <a:pt x="0" y="0"/>
                  </a:moveTo>
                  <a:lnTo>
                    <a:pt x="1418149" y="0"/>
                  </a:lnTo>
                  <a:lnTo>
                    <a:pt x="1418149" y="1083733"/>
                  </a:lnTo>
                  <a:lnTo>
                    <a:pt x="0" y="1083733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418149" cy="11218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978912" y="4952683"/>
            <a:ext cx="5384534" cy="4114800"/>
            <a:chOff x="0" y="0"/>
            <a:chExt cx="1418149" cy="108373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18149" cy="1083733"/>
            </a:xfrm>
            <a:custGeom>
              <a:avLst/>
              <a:gdLst/>
              <a:ahLst/>
              <a:cxnLst/>
              <a:rect l="l" t="t" r="r" b="b"/>
              <a:pathLst>
                <a:path w="1418149" h="1083733">
                  <a:moveTo>
                    <a:pt x="0" y="0"/>
                  </a:moveTo>
                  <a:lnTo>
                    <a:pt x="1418149" y="0"/>
                  </a:lnTo>
                  <a:lnTo>
                    <a:pt x="1418149" y="1083733"/>
                  </a:lnTo>
                  <a:lnTo>
                    <a:pt x="0" y="1083733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418149" cy="11218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5486400" y="725805"/>
            <a:ext cx="7315200" cy="605790"/>
          </a:xfrm>
          <a:custGeom>
            <a:avLst/>
            <a:gdLst/>
            <a:ahLst/>
            <a:cxnLst/>
            <a:rect l="l" t="t" r="r" b="b"/>
            <a:pathLst>
              <a:path w="7315200" h="605790">
                <a:moveTo>
                  <a:pt x="0" y="0"/>
                </a:moveTo>
                <a:lnTo>
                  <a:pt x="7315200" y="0"/>
                </a:lnTo>
                <a:lnTo>
                  <a:pt x="7315200" y="605790"/>
                </a:lnTo>
                <a:lnTo>
                  <a:pt x="0" y="6057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V="1">
            <a:off x="5486400" y="8955405"/>
            <a:ext cx="7315200" cy="605790"/>
          </a:xfrm>
          <a:custGeom>
            <a:avLst/>
            <a:gdLst/>
            <a:ahLst/>
            <a:cxnLst/>
            <a:rect l="l" t="t" r="r" b="b"/>
            <a:pathLst>
              <a:path w="7315200" h="605790">
                <a:moveTo>
                  <a:pt x="0" y="605790"/>
                </a:moveTo>
                <a:lnTo>
                  <a:pt x="7315200" y="605790"/>
                </a:lnTo>
                <a:lnTo>
                  <a:pt x="7315200" y="0"/>
                </a:lnTo>
                <a:lnTo>
                  <a:pt x="0" y="0"/>
                </a:lnTo>
                <a:lnTo>
                  <a:pt x="0" y="60579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818828" y="2060497"/>
            <a:ext cx="12985273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6999" b="1">
                <a:solidFill>
                  <a:srgbClr val="546A8A"/>
                </a:solidFill>
                <a:latin typeface="Manison Ultra-Bold"/>
                <a:ea typeface="Manison Ultra-Bold"/>
                <a:cs typeface="Manison Ultra-Bold"/>
                <a:sym typeface="Manison Ultra-Bold"/>
              </a:rPr>
              <a:t>Observation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656294" y="2809162"/>
            <a:ext cx="12975413" cy="659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546A8A"/>
                </a:solidFill>
                <a:latin typeface="Poly"/>
                <a:ea typeface="Poly"/>
                <a:cs typeface="Poly"/>
                <a:sym typeface="Poly"/>
              </a:rPr>
              <a:t>The bank’s loan amount and customer activity are increasing year by year.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546A8A"/>
                </a:solidFill>
                <a:latin typeface="Poly"/>
                <a:ea typeface="Poly"/>
                <a:cs typeface="Poly"/>
                <a:sym typeface="Poly"/>
              </a:rPr>
              <a:t>Verified customers contribute more to total payments and show better repayment behavior. 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546A8A"/>
                </a:solidFill>
                <a:latin typeface="Poly"/>
                <a:ea typeface="Poly"/>
                <a:cs typeface="Poly"/>
                <a:sym typeface="Poly"/>
              </a:rPr>
              <a:t>Grade B and C customers have higher revolving balances and loan activity.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546A8A"/>
                </a:solidFill>
                <a:latin typeface="Poly"/>
                <a:ea typeface="Poly"/>
                <a:cs typeface="Poly"/>
                <a:sym typeface="Poly"/>
              </a:rPr>
              <a:t>Some states contribute more significantly to total loan distribution and customer engagement. 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546A8A"/>
                </a:solidFill>
                <a:latin typeface="Poly"/>
                <a:ea typeface="Poly"/>
                <a:cs typeface="Poly"/>
                <a:sym typeface="Poly"/>
              </a:rPr>
              <a:t>Customers with mortgage ownership tend to make higher and more stable payments.</a:t>
            </a:r>
          </a:p>
          <a:p>
            <a:pPr algn="ctr">
              <a:lnSpc>
                <a:spcPts val="4759"/>
              </a:lnSpc>
            </a:pPr>
            <a:endParaRPr lang="en-US" sz="3399">
              <a:solidFill>
                <a:srgbClr val="546A8A"/>
              </a:solidFill>
              <a:latin typeface="Poly"/>
              <a:ea typeface="Poly"/>
              <a:cs typeface="Poly"/>
              <a:sym typeface="Poly"/>
            </a:endParaRPr>
          </a:p>
        </p:txBody>
      </p:sp>
      <p:sp>
        <p:nvSpPr>
          <p:cNvPr id="7" name="Freeform 7"/>
          <p:cNvSpPr/>
          <p:nvPr/>
        </p:nvSpPr>
        <p:spPr>
          <a:xfrm flipH="1" flipV="1">
            <a:off x="-3530978" y="-240724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flipH="1" flipV="1">
            <a:off x="14607933" y="-126175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-3680067" y="489746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4757022" y="6029979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5486400" y="725805"/>
            <a:ext cx="7315200" cy="605790"/>
          </a:xfrm>
          <a:custGeom>
            <a:avLst/>
            <a:gdLst/>
            <a:ahLst/>
            <a:cxnLst/>
            <a:rect l="l" t="t" r="r" b="b"/>
            <a:pathLst>
              <a:path w="7315200" h="605790">
                <a:moveTo>
                  <a:pt x="0" y="0"/>
                </a:moveTo>
                <a:lnTo>
                  <a:pt x="7315200" y="0"/>
                </a:lnTo>
                <a:lnTo>
                  <a:pt x="7315200" y="605790"/>
                </a:lnTo>
                <a:lnTo>
                  <a:pt x="0" y="6057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V="1">
            <a:off x="5486400" y="8955405"/>
            <a:ext cx="7315200" cy="605790"/>
          </a:xfrm>
          <a:custGeom>
            <a:avLst/>
            <a:gdLst/>
            <a:ahLst/>
            <a:cxnLst/>
            <a:rect l="l" t="t" r="r" b="b"/>
            <a:pathLst>
              <a:path w="7315200" h="605790">
                <a:moveTo>
                  <a:pt x="0" y="605790"/>
                </a:moveTo>
                <a:lnTo>
                  <a:pt x="7315200" y="605790"/>
                </a:lnTo>
                <a:lnTo>
                  <a:pt x="7315200" y="0"/>
                </a:lnTo>
                <a:lnTo>
                  <a:pt x="0" y="0"/>
                </a:lnTo>
                <a:lnTo>
                  <a:pt x="0" y="60579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818828" y="2308504"/>
            <a:ext cx="12985273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6999" b="1">
                <a:solidFill>
                  <a:srgbClr val="546A8A"/>
                </a:solidFill>
                <a:latin typeface="Manison Ultra-Bold"/>
                <a:ea typeface="Manison Ultra-Bold"/>
                <a:cs typeface="Manison Ultra-Bold"/>
                <a:sym typeface="Manison Ultra-Bold"/>
              </a:rPr>
              <a:t>Suggestion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713444" y="3611067"/>
            <a:ext cx="12975413" cy="4790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546A8A"/>
                </a:solidFill>
                <a:latin typeface="Poly"/>
                <a:ea typeface="Poly"/>
                <a:cs typeface="Poly"/>
                <a:sym typeface="Poly"/>
              </a:rPr>
              <a:t>Focus more on verified customers to reduce loan default risk. 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546A8A"/>
                </a:solidFill>
                <a:latin typeface="Poly"/>
                <a:ea typeface="Poly"/>
                <a:cs typeface="Poly"/>
                <a:sym typeface="Poly"/>
              </a:rPr>
              <a:t>Improve credit assessment for low-performing customer groups. 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546A8A"/>
                </a:solidFill>
                <a:latin typeface="Poly"/>
                <a:ea typeface="Poly"/>
                <a:cs typeface="Poly"/>
                <a:sym typeface="Poly"/>
              </a:rPr>
              <a:t>Introduce personalized banking offers based on customer behavior.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546A8A"/>
                </a:solidFill>
                <a:latin typeface="Poly"/>
                <a:ea typeface="Poly"/>
                <a:cs typeface="Poly"/>
                <a:sym typeface="Poly"/>
              </a:rPr>
              <a:t>Increase digital banking awareness and customer engagement.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546A8A"/>
                </a:solidFill>
                <a:latin typeface="Poly"/>
                <a:ea typeface="Poly"/>
                <a:cs typeface="Poly"/>
                <a:sym typeface="Poly"/>
              </a:rPr>
              <a:t>Use real-time analytics dashboards for continuous monitoring and better business decisions.</a:t>
            </a:r>
          </a:p>
        </p:txBody>
      </p:sp>
      <p:sp>
        <p:nvSpPr>
          <p:cNvPr id="7" name="Freeform 7"/>
          <p:cNvSpPr/>
          <p:nvPr/>
        </p:nvSpPr>
        <p:spPr>
          <a:xfrm flipH="1" flipV="1">
            <a:off x="-3530978" y="-240724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flipH="1" flipV="1">
            <a:off x="14607933" y="-126175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-3680067" y="489746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4757022" y="6029979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5486400" y="725805"/>
            <a:ext cx="7315200" cy="605790"/>
          </a:xfrm>
          <a:custGeom>
            <a:avLst/>
            <a:gdLst/>
            <a:ahLst/>
            <a:cxnLst/>
            <a:rect l="l" t="t" r="r" b="b"/>
            <a:pathLst>
              <a:path w="7315200" h="605790">
                <a:moveTo>
                  <a:pt x="0" y="0"/>
                </a:moveTo>
                <a:lnTo>
                  <a:pt x="7315200" y="0"/>
                </a:lnTo>
                <a:lnTo>
                  <a:pt x="7315200" y="605790"/>
                </a:lnTo>
                <a:lnTo>
                  <a:pt x="0" y="6057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V="1">
            <a:off x="5486400" y="8955405"/>
            <a:ext cx="7315200" cy="605790"/>
          </a:xfrm>
          <a:custGeom>
            <a:avLst/>
            <a:gdLst/>
            <a:ahLst/>
            <a:cxnLst/>
            <a:rect l="l" t="t" r="r" b="b"/>
            <a:pathLst>
              <a:path w="7315200" h="605790">
                <a:moveTo>
                  <a:pt x="0" y="605790"/>
                </a:moveTo>
                <a:lnTo>
                  <a:pt x="7315200" y="605790"/>
                </a:lnTo>
                <a:lnTo>
                  <a:pt x="7315200" y="0"/>
                </a:lnTo>
                <a:lnTo>
                  <a:pt x="0" y="0"/>
                </a:lnTo>
                <a:lnTo>
                  <a:pt x="0" y="60579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656294" y="1994534"/>
            <a:ext cx="12985273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6999" b="1">
                <a:solidFill>
                  <a:srgbClr val="546A8A"/>
                </a:solidFill>
                <a:latin typeface="Manison Ultra-Bold"/>
                <a:ea typeface="Manison Ultra-Bold"/>
                <a:cs typeface="Manison Ultra-Bold"/>
                <a:sym typeface="Manison Ultra-Bold"/>
              </a:rPr>
              <a:t>Conclusion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799505" y="2771447"/>
            <a:ext cx="12975413" cy="5990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546A8A"/>
                </a:solidFill>
                <a:latin typeface="Poly"/>
                <a:ea typeface="Poly"/>
                <a:cs typeface="Poly"/>
                <a:sym typeface="Poly"/>
              </a:rPr>
              <a:t>The dashboard helps understand customer behavior, loan trends, and repayment performance effectively.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546A8A"/>
                </a:solidFill>
                <a:latin typeface="Poly"/>
                <a:ea typeface="Poly"/>
                <a:cs typeface="Poly"/>
                <a:sym typeface="Poly"/>
              </a:rPr>
              <a:t>Customer verification and credit grade have a strong impact on loan repayment reliability.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546A8A"/>
                </a:solidFill>
                <a:latin typeface="Poly"/>
                <a:ea typeface="Poly"/>
                <a:cs typeface="Poly"/>
                <a:sym typeface="Poly"/>
              </a:rPr>
              <a:t>Increasing loan and payment trends indicate business growth and strong customer participation. 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546A8A"/>
                </a:solidFill>
                <a:latin typeface="Poly"/>
                <a:ea typeface="Poly"/>
                <a:cs typeface="Poly"/>
                <a:sym typeface="Poly"/>
              </a:rPr>
              <a:t>Power BI dashboards help convert raw banking data into meaningful business insights.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546A8A"/>
                </a:solidFill>
                <a:latin typeface="Poly"/>
                <a:ea typeface="Poly"/>
                <a:cs typeface="Poly"/>
                <a:sym typeface="Poly"/>
              </a:rPr>
              <a:t>Data analytics can support better decision-making, risk management, and customer service improvement.</a:t>
            </a:r>
          </a:p>
        </p:txBody>
      </p:sp>
      <p:sp>
        <p:nvSpPr>
          <p:cNvPr id="7" name="Freeform 7"/>
          <p:cNvSpPr/>
          <p:nvPr/>
        </p:nvSpPr>
        <p:spPr>
          <a:xfrm flipH="1" flipV="1">
            <a:off x="-3530978" y="-240724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flipH="1" flipV="1">
            <a:off x="14607933" y="-126175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-3680067" y="489746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4757022" y="6029979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5486400" y="725805"/>
            <a:ext cx="7315200" cy="605790"/>
          </a:xfrm>
          <a:custGeom>
            <a:avLst/>
            <a:gdLst/>
            <a:ahLst/>
            <a:cxnLst/>
            <a:rect l="l" t="t" r="r" b="b"/>
            <a:pathLst>
              <a:path w="7315200" h="605790">
                <a:moveTo>
                  <a:pt x="0" y="0"/>
                </a:moveTo>
                <a:lnTo>
                  <a:pt x="7315200" y="0"/>
                </a:lnTo>
                <a:lnTo>
                  <a:pt x="7315200" y="605790"/>
                </a:lnTo>
                <a:lnTo>
                  <a:pt x="0" y="6057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V="1">
            <a:off x="5486400" y="8955405"/>
            <a:ext cx="7315200" cy="605790"/>
          </a:xfrm>
          <a:custGeom>
            <a:avLst/>
            <a:gdLst/>
            <a:ahLst/>
            <a:cxnLst/>
            <a:rect l="l" t="t" r="r" b="b"/>
            <a:pathLst>
              <a:path w="7315200" h="605790">
                <a:moveTo>
                  <a:pt x="0" y="605790"/>
                </a:moveTo>
                <a:lnTo>
                  <a:pt x="7315200" y="605790"/>
                </a:lnTo>
                <a:lnTo>
                  <a:pt x="7315200" y="0"/>
                </a:lnTo>
                <a:lnTo>
                  <a:pt x="0" y="0"/>
                </a:lnTo>
                <a:lnTo>
                  <a:pt x="0" y="60579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4058344" y="3714623"/>
            <a:ext cx="10171313" cy="3372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4"/>
              </a:lnSpc>
            </a:pPr>
            <a:r>
              <a:rPr lang="en-US" sz="15005" b="1">
                <a:solidFill>
                  <a:srgbClr val="546A8A"/>
                </a:solidFill>
                <a:latin typeface="Manison Ultra-Bold"/>
                <a:ea typeface="Manison Ultra-Bold"/>
                <a:cs typeface="Manison Ultra-Bold"/>
                <a:sym typeface="Manison Ultra-Bold"/>
              </a:rPr>
              <a:t>Thank</a:t>
            </a:r>
          </a:p>
          <a:p>
            <a:pPr algn="ctr">
              <a:lnSpc>
                <a:spcPts val="12604"/>
              </a:lnSpc>
            </a:pPr>
            <a:r>
              <a:rPr lang="en-US" sz="15005" b="1">
                <a:solidFill>
                  <a:srgbClr val="546A8A"/>
                </a:solidFill>
                <a:latin typeface="Manison Ultra-Bold"/>
                <a:ea typeface="Manison Ultra-Bold"/>
                <a:cs typeface="Manison Ultra-Bold"/>
                <a:sym typeface="Manison Ultra-Bold"/>
              </a:rPr>
              <a:t>You</a:t>
            </a:r>
          </a:p>
        </p:txBody>
      </p:sp>
      <p:sp>
        <p:nvSpPr>
          <p:cNvPr id="6" name="Freeform 6"/>
          <p:cNvSpPr/>
          <p:nvPr/>
        </p:nvSpPr>
        <p:spPr>
          <a:xfrm>
            <a:off x="-3680067" y="489746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flipH="1" flipV="1">
            <a:off x="14607933" y="-126175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4757022" y="6029979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flipH="1" flipV="1">
            <a:off x="-3530978" y="-240724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625</Words>
  <Application>Microsoft Office PowerPoint</Application>
  <PresentationFormat>Custom</PresentationFormat>
  <Paragraphs>98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Manison Bold</vt:lpstr>
      <vt:lpstr>HK Grotesk Bold</vt:lpstr>
      <vt:lpstr>HK Grotesk Medium</vt:lpstr>
      <vt:lpstr>Manison Ultra-Bold</vt:lpstr>
      <vt:lpstr>Calibri</vt:lpstr>
      <vt:lpstr>Poly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Loan Analysis</dc:title>
  <dc:creator>Nishant Rane</dc:creator>
  <cp:lastModifiedBy>Ashwin N</cp:lastModifiedBy>
  <cp:revision>4</cp:revision>
  <dcterms:created xsi:type="dcterms:W3CDTF">2006-08-16T00:00:00Z</dcterms:created>
  <dcterms:modified xsi:type="dcterms:W3CDTF">2026-05-29T05:44:21Z</dcterms:modified>
  <dc:identifier>DAHK7WzHk9Y</dc:identifier>
</cp:coreProperties>
</file>